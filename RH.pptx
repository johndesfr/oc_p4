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0" r:id="rId4"/>
    <p:sldId id="279" r:id="rId5"/>
    <p:sldId id="257" r:id="rId6"/>
    <p:sldId id="270" r:id="rId7"/>
    <p:sldId id="260" r:id="rId8"/>
    <p:sldId id="282" r:id="rId9"/>
    <p:sldId id="281" r:id="rId10"/>
    <p:sldId id="283" r:id="rId11"/>
    <p:sldId id="284" r:id="rId12"/>
    <p:sldId id="262" r:id="rId13"/>
    <p:sldId id="263" r:id="rId14"/>
    <p:sldId id="264" r:id="rId15"/>
    <p:sldId id="285" r:id="rId16"/>
    <p:sldId id="265" r:id="rId17"/>
    <p:sldId id="266" r:id="rId18"/>
    <p:sldId id="271" r:id="rId19"/>
    <p:sldId id="272" r:id="rId20"/>
    <p:sldId id="273" r:id="rId21"/>
    <p:sldId id="274" r:id="rId22"/>
    <p:sldId id="267" r:id="rId23"/>
    <p:sldId id="268" r:id="rId24"/>
    <p:sldId id="275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FA986-4B2A-7A8E-BFC4-770F39181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5DA418-2274-36A0-5254-82E8BC19A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37FA46-C8D7-A5F7-FC41-7974DD25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C731CF-50A4-67B8-DD50-59BF73E6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1C4507-4A44-BC02-83DC-B1C4F9E9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60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6E980-A57E-5DFB-F944-AB59D328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65478D-5E9D-2210-3826-A9C96B080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92C5FA-6F02-CB14-3A40-8FD64E1D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57C451-9C53-9F4F-9A44-5AA1B2D4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65100-AD5E-E583-B3B9-74430F41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66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4B87B-BE6C-DF81-2DAE-49E651F3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4BB213-5788-08A0-4E3A-E18578887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4C9D6A-F1F6-D91D-7DCA-F8CA3638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E4C67D-CCB3-17F9-5EC7-4D841BB1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3A1061-8B0F-7E38-FE3C-63855CF6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73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57F17-2C1A-4F49-4518-C8909994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E675A1-DF9E-CC71-E0A1-2F3065053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1BAD5F-9965-6703-47BA-D3F189794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E9C409-92A9-7C17-C5C4-2862D396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E2720A-1CF0-7EF1-CC56-D0A96242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7E111B-5090-0E2C-C16B-A76269EF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4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3303D-46FB-ADA2-3409-A754C996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2ACC8B-5C2E-BC91-A5AA-A1F54EF03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831669-7984-AAA4-E50C-A404C85C1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23AC183-FEC0-3B2F-C890-16A3CBFF4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906AC2-153F-4B7D-AB9A-CD99A2600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FEF6AA9-7B52-1FB9-EAF4-6A6B5FBD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84D2BB-67FA-6B5F-3EEC-E0A29D3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F29D15-3DC4-DF3B-7D4B-7442F992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832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D69D8-C5CC-62FB-DF1F-6EE9A360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E0F695-80FF-B281-50E5-3F07AD38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7C9674-87C7-E785-A1BC-27825858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8EECDC-ED0A-578B-EF2C-D8EC9FAC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67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BD09E7-D268-827F-F5DA-BD2812CB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BE5D9A-598D-FF45-408D-7487C79A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E57669-B594-231C-7043-7DA1A9D9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60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C6E0D3-77A5-22B4-D7E0-B67A7F3E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E722B4-D4F0-A742-1F1C-A189F68A9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1744BA-C424-332F-7033-C51A0FF2E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ADB594-7CAC-7F69-4E4C-4528A2E6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4D175D-1CC4-E98E-2FD2-4F2618D5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94E05E-04E3-161A-7682-1EF9D908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2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660BF-DE51-6D9F-088F-E7FC6D80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B033BF-5EFE-7414-8E85-67BCB7FEC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3B7487-8D1A-9EEB-60AE-E863DEE58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0C82D2-465E-1789-5870-46F85C25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21D075-2F61-9E9B-9A7F-46A1D585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BCBE62-410A-B42E-7200-5A4A5211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63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16BD1-ED92-CE24-2E6E-3DC4CCDA0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8BDB2E-CFA5-2FFA-5A9F-5D9FA12E9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000F9B-DB31-C050-1482-03BCFFD9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F6C2B3-59A6-09E1-2ADA-4379EA2C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BD65CC-5084-477D-7BD1-3E2E4B47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72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B0084A-8E83-6D4A-65AA-EE6BCA6E8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F05EE5C-BBC9-1270-0858-0DA13F73D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2587F9-543E-E4BC-D141-95D36B4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E14A28-5F16-3975-C574-1BAD206B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909CF6-A05F-2ECF-F005-6B2C7C51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35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5910086-85C8-B1B2-DF4F-917D158AE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86DC5E-7071-FD41-7A51-5DD4CF86B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0924E3-F44A-6DCE-DCCA-6AD63562C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5D362-AFF5-464C-94D8-0AD755792695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E10C45-A116-11C7-B0D0-FB51921D4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252013-3FD4-1745-35BC-9C27DF391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D0645-EE2A-494C-8C1E-CE4684789E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15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av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6CB94-74FC-A5D4-FA4D-090F21043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2C848C7-204C-BD15-41EC-6E26A0C6F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A97852-885D-0D4E-F6FF-D125E48C0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1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ce réservé du contenu 4">
            <a:extLst>
              <a:ext uri="{FF2B5EF4-FFF2-40B4-BE49-F238E27FC236}">
                <a16:creationId xmlns:a16="http://schemas.microsoft.com/office/drawing/2014/main" id="{D88C079D-6D70-E177-CAE1-DAD7191CA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EA80DAE-5A44-441B-2A9C-6EEA1D681378}"/>
              </a:ext>
            </a:extLst>
          </p:cNvPr>
          <p:cNvSpPr txBox="1"/>
          <p:nvPr/>
        </p:nvSpPr>
        <p:spPr>
          <a:xfrm>
            <a:off x="591939" y="1245284"/>
            <a:ext cx="2408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Départ de l’entreprise</a:t>
            </a:r>
          </a:p>
          <a:p>
            <a:r>
              <a:rPr lang="fr-FR" dirty="0"/>
              <a:t>Environ 200 </a:t>
            </a:r>
          </a:p>
          <a:p>
            <a:r>
              <a:rPr lang="fr-FR" dirty="0"/>
              <a:t>Contre 1200 qui restent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BED360-FFDC-35E3-B7D8-461F01137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17" y="2249020"/>
            <a:ext cx="3607954" cy="258831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1912CA8-5E0B-1A76-C8B2-9B282B759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014" y="2445613"/>
            <a:ext cx="3682090" cy="237864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D636DB9-AFB1-702F-FBB9-CFA1C3016898}"/>
              </a:ext>
            </a:extLst>
          </p:cNvPr>
          <p:cNvSpPr txBox="1"/>
          <p:nvPr/>
        </p:nvSpPr>
        <p:spPr>
          <a:xfrm>
            <a:off x="3819071" y="1266813"/>
            <a:ext cx="4008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Départ selon les heures supplémentaires</a:t>
            </a:r>
          </a:p>
          <a:p>
            <a:r>
              <a:rPr lang="fr-FR" dirty="0"/>
              <a:t>30% Oui </a:t>
            </a:r>
          </a:p>
          <a:p>
            <a:r>
              <a:rPr lang="fr-FR" dirty="0"/>
              <a:t>10% Non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48A9345-2145-6D3D-2501-EE518D87D53E}"/>
              </a:ext>
            </a:extLst>
          </p:cNvPr>
          <p:cNvSpPr txBox="1"/>
          <p:nvPr/>
        </p:nvSpPr>
        <p:spPr>
          <a:xfrm>
            <a:off x="8292438" y="1270818"/>
            <a:ext cx="24867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Départ par département</a:t>
            </a:r>
          </a:p>
          <a:p>
            <a:r>
              <a:rPr lang="fr-FR" dirty="0"/>
              <a:t>Commercial</a:t>
            </a:r>
          </a:p>
          <a:p>
            <a:r>
              <a:rPr lang="fr-FR" dirty="0"/>
              <a:t>Consultant </a:t>
            </a:r>
          </a:p>
          <a:p>
            <a:r>
              <a:rPr lang="fr-FR" dirty="0"/>
              <a:t>RH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753C389-84E0-8393-1BF6-3042BE132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047" y="2652297"/>
            <a:ext cx="4239489" cy="2030033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73585BF-B90A-954D-A0C4-E758CED832BE}"/>
              </a:ext>
            </a:extLst>
          </p:cNvPr>
          <p:cNvSpPr txBox="1">
            <a:spLocks/>
          </p:cNvSpPr>
          <p:nvPr/>
        </p:nvSpPr>
        <p:spPr>
          <a:xfrm>
            <a:off x="465282" y="-1125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Analyse Exploratoire 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5C07C12-65CE-FD98-494B-B6F44CC1A8D3}"/>
              </a:ext>
            </a:extLst>
          </p:cNvPr>
          <p:cNvSpPr txBox="1"/>
          <p:nvPr/>
        </p:nvSpPr>
        <p:spPr>
          <a:xfrm>
            <a:off x="3528723" y="5429137"/>
            <a:ext cx="5134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Objectif : Comprendre les causes des départs d’une ESN 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62861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BECBE-0530-2762-07E4-FEBD449B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121EEB-99DB-DCC4-F0F6-FFA1450A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B220B2F0-AF24-D892-2090-DF2AC944C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FB4A1338-69E0-42F0-B0CD-0F336AE3330F}"/>
              </a:ext>
            </a:extLst>
          </p:cNvPr>
          <p:cNvSpPr txBox="1">
            <a:spLocks/>
          </p:cNvSpPr>
          <p:nvPr/>
        </p:nvSpPr>
        <p:spPr>
          <a:xfrm>
            <a:off x="465282" y="-1125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Analyse Exploratoire 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E89C7A8-9125-1E79-7F96-D10189631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63" y="1248061"/>
            <a:ext cx="7718520" cy="421986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7B3FB92-D344-D93A-5BE6-5045E86128FA}"/>
              </a:ext>
            </a:extLst>
          </p:cNvPr>
          <p:cNvSpPr txBox="1"/>
          <p:nvPr/>
        </p:nvSpPr>
        <p:spPr>
          <a:xfrm>
            <a:off x="8556719" y="1480093"/>
            <a:ext cx="3098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petits commerciaux ont </a:t>
            </a:r>
          </a:p>
          <a:p>
            <a:r>
              <a:rPr lang="fr-FR" dirty="0"/>
              <a:t>plus tendance à partir. </a:t>
            </a:r>
          </a:p>
          <a:p>
            <a:r>
              <a:rPr lang="fr-FR" dirty="0"/>
              <a:t>Ensuite vont suivre les consultants et RH</a:t>
            </a:r>
          </a:p>
        </p:txBody>
      </p:sp>
    </p:spTree>
    <p:extLst>
      <p:ext uri="{BB962C8B-B14F-4D97-AF65-F5344CB8AC3E}">
        <p14:creationId xmlns:p14="http://schemas.microsoft.com/office/powerpoint/2010/main" val="160224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1AD971E3-A8CB-71DF-67A2-F88893DFF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7F83D15-EA0F-D092-ED51-791A438D0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508" y="550210"/>
            <a:ext cx="3656638" cy="236220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CD6138A-0CF7-337D-2D87-864A0D6F2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13" y="575135"/>
            <a:ext cx="3656638" cy="226608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47BA805-BA72-8615-BA0A-8DB1E4458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812" y="3638977"/>
            <a:ext cx="4076701" cy="263356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B691BCF-07A9-FF80-2A4E-E8243943A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508" y="3638977"/>
            <a:ext cx="3888667" cy="251209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8F1DC4FD-1D83-9B44-A42E-CAA63581B608}"/>
              </a:ext>
            </a:extLst>
          </p:cNvPr>
          <p:cNvSpPr txBox="1"/>
          <p:nvPr/>
        </p:nvSpPr>
        <p:spPr>
          <a:xfrm>
            <a:off x="190206" y="2916933"/>
            <a:ext cx="4573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Ceux qui quittent l’entreprise ont globalement </a:t>
            </a:r>
          </a:p>
          <a:p>
            <a:r>
              <a:rPr lang="fr-FR" dirty="0"/>
              <a:t>des plus petits salaires que ceux qui restent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CCF0877-E23B-EE00-36AD-DA81C6EB6274}"/>
              </a:ext>
            </a:extLst>
          </p:cNvPr>
          <p:cNvSpPr txBox="1"/>
          <p:nvPr/>
        </p:nvSpPr>
        <p:spPr>
          <a:xfrm>
            <a:off x="190206" y="6295531"/>
            <a:ext cx="460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Ceux qui quittent l’entreprise habitent plus loin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94EBCD04-75D3-C4D0-F809-8791600E3558}"/>
              </a:ext>
            </a:extLst>
          </p:cNvPr>
          <p:cNvSpPr txBox="1">
            <a:spLocks/>
          </p:cNvSpPr>
          <p:nvPr/>
        </p:nvSpPr>
        <p:spPr>
          <a:xfrm>
            <a:off x="303632" y="-5008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Analyse Exploratoire 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AFCD77-6D83-723E-D6E8-5147AEAF0265}"/>
              </a:ext>
            </a:extLst>
          </p:cNvPr>
          <p:cNvSpPr txBox="1"/>
          <p:nvPr/>
        </p:nvSpPr>
        <p:spPr>
          <a:xfrm>
            <a:off x="6095999" y="2906362"/>
            <a:ext cx="454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Ceux qui quittent l’entreprise sont plus jeunes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5AAE366-EF4C-B726-6469-2BB8EF671361}"/>
              </a:ext>
            </a:extLst>
          </p:cNvPr>
          <p:cNvSpPr txBox="1"/>
          <p:nvPr/>
        </p:nvSpPr>
        <p:spPr>
          <a:xfrm>
            <a:off x="5920508" y="6295531"/>
            <a:ext cx="4989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Ceux qui ont le moins d’ancienneté partent plus tôt</a:t>
            </a:r>
          </a:p>
        </p:txBody>
      </p:sp>
    </p:spTree>
    <p:extLst>
      <p:ext uri="{BB962C8B-B14F-4D97-AF65-F5344CB8AC3E}">
        <p14:creationId xmlns:p14="http://schemas.microsoft.com/office/powerpoint/2010/main" val="148241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31BBB63-40F8-8C50-F224-7C9814E9B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F3D8B2F-C2CF-98BC-718C-48DA30FC58F1}"/>
              </a:ext>
            </a:extLst>
          </p:cNvPr>
          <p:cNvSpPr txBox="1"/>
          <p:nvPr/>
        </p:nvSpPr>
        <p:spPr>
          <a:xfrm>
            <a:off x="608244" y="1034096"/>
            <a:ext cx="11071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Essayer d’y remédier via des </a:t>
            </a:r>
            <a:r>
              <a:rPr lang="fr-FR" sz="2400" b="1" dirty="0">
                <a:solidFill>
                  <a:srgbClr val="FF0000"/>
                </a:solidFill>
              </a:rPr>
              <a:t>variables(</a:t>
            </a:r>
            <a:r>
              <a:rPr lang="fr-FR" sz="2400" b="1" dirty="0" err="1">
                <a:solidFill>
                  <a:srgbClr val="FF0000"/>
                </a:solidFill>
              </a:rPr>
              <a:t>features</a:t>
            </a:r>
            <a:r>
              <a:rPr lang="fr-FR" sz="2400" b="1" dirty="0">
                <a:solidFill>
                  <a:srgbClr val="FF0000"/>
                </a:solidFill>
              </a:rPr>
              <a:t>) </a:t>
            </a:r>
            <a:r>
              <a:rPr lang="fr-FR" sz="2400" dirty="0"/>
              <a:t>et un </a:t>
            </a:r>
            <a:r>
              <a:rPr lang="fr-FR" sz="2400" b="1" dirty="0">
                <a:solidFill>
                  <a:srgbClr val="FF0000"/>
                </a:solidFill>
              </a:rPr>
              <a:t>algorithme de machine Learning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52A7CB-C79C-6AAE-582F-9BB045A7F1AC}"/>
              </a:ext>
            </a:extLst>
          </p:cNvPr>
          <p:cNvSpPr txBox="1"/>
          <p:nvPr/>
        </p:nvSpPr>
        <p:spPr>
          <a:xfrm>
            <a:off x="608244" y="1591336"/>
            <a:ext cx="2298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Exemples de </a:t>
            </a:r>
            <a:r>
              <a:rPr lang="fr-FR" dirty="0" err="1"/>
              <a:t>features</a:t>
            </a:r>
            <a:r>
              <a:rPr lang="fr-FR" dirty="0"/>
              <a:t> :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81ED42BA-D35B-8B34-3F45-6388C261E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17898"/>
              </p:ext>
            </p:extLst>
          </p:nvPr>
        </p:nvGraphicFramePr>
        <p:xfrm>
          <a:off x="3716594" y="1758046"/>
          <a:ext cx="480141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1418">
                  <a:extLst>
                    <a:ext uri="{9D8B030D-6E8A-4147-A177-3AD203B41FA5}">
                      <a16:colId xmlns:a16="http://schemas.microsoft.com/office/drawing/2014/main" val="1383717808"/>
                    </a:ext>
                  </a:extLst>
                </a:gridCol>
              </a:tblGrid>
              <a:tr h="159572">
                <a:tc>
                  <a:txBody>
                    <a:bodyPr/>
                    <a:lstStyle/>
                    <a:p>
                      <a:r>
                        <a:rPr lang="fr-FR" sz="1600" dirty="0" err="1"/>
                        <a:t>Features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25112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dirty="0" err="1"/>
                        <a:t>age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048864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dirty="0"/>
                        <a:t>genre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959053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dirty="0"/>
                        <a:t>Revenu mensuel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205699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dirty="0"/>
                        <a:t>Statut marital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048993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dirty="0"/>
                        <a:t>poste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324610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satisfaction_employee_environnement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71703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note_evaluation_precedente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442006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niveau_hierarchique_poste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822128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heure_supplementaires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218382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frequence_deplacement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300742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annee_experience_totale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646997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satisfaction_employee_equipe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23761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satisfaction_employee_equilibre_pro_perso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6557"/>
                  </a:ext>
                </a:extLst>
              </a:tr>
              <a:tr h="311701">
                <a:tc>
                  <a:txBody>
                    <a:bodyPr/>
                    <a:lstStyle/>
                    <a:p>
                      <a:r>
                        <a:rPr lang="fr-FR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distance_domicile_travail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80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37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C4C2-8355-3E24-0A8F-BE5B14A8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B4C575E-3AF1-CA8B-BA26-184168FB2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7E25E39-A325-674F-7A78-24A7464BA8E0}"/>
              </a:ext>
            </a:extLst>
          </p:cNvPr>
          <p:cNvSpPr txBox="1"/>
          <p:nvPr/>
        </p:nvSpPr>
        <p:spPr>
          <a:xfrm>
            <a:off x="1002889" y="580104"/>
            <a:ext cx="5220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Choix de la métrique : </a:t>
            </a:r>
            <a:r>
              <a:rPr lang="fr-FR" sz="2800" b="1" dirty="0">
                <a:solidFill>
                  <a:srgbClr val="FF0000"/>
                </a:solidFill>
              </a:rPr>
              <a:t>le F5 score </a:t>
            </a:r>
          </a:p>
          <a:p>
            <a:endParaRPr lang="fr-FR" sz="2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70EF043-DC89-2882-5104-3C0F7E7483D6}"/>
              </a:ext>
            </a:extLst>
          </p:cNvPr>
          <p:cNvSpPr txBox="1"/>
          <p:nvPr/>
        </p:nvSpPr>
        <p:spPr>
          <a:xfrm>
            <a:off x="1002889" y="1467983"/>
            <a:ext cx="506555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Plus forte pondération du Rappel contre la Précision</a:t>
            </a:r>
          </a:p>
          <a:p>
            <a:r>
              <a:rPr lang="fr-FR" dirty="0"/>
              <a:t>Rappel et Précision = TP / (TP + FN) </a:t>
            </a:r>
          </a:p>
          <a:p>
            <a:endParaRPr lang="fr-FR" dirty="0"/>
          </a:p>
          <a:p>
            <a:r>
              <a:rPr lang="fr-FR" dirty="0"/>
              <a:t>TP : Départs bien détectés</a:t>
            </a:r>
          </a:p>
          <a:p>
            <a:r>
              <a:rPr lang="fr-FR" dirty="0"/>
              <a:t>FN : Départs non détectés</a:t>
            </a:r>
          </a:p>
          <a:p>
            <a:endParaRPr lang="fr-FR" dirty="0"/>
          </a:p>
          <a:p>
            <a:r>
              <a:rPr lang="fr-FR" dirty="0"/>
              <a:t> </a:t>
            </a:r>
          </a:p>
          <a:p>
            <a:r>
              <a:rPr lang="fr-FR" dirty="0"/>
              <a:t>Sur le plan mathématique</a:t>
            </a:r>
          </a:p>
          <a:p>
            <a:r>
              <a:rPr lang="fr-FR" dirty="0"/>
              <a:t>Coefficient Beta plus élevé 1+</a:t>
            </a:r>
            <a:r>
              <a:rPr lang="el-GR" dirty="0"/>
              <a:t>β</a:t>
            </a:r>
            <a:r>
              <a:rPr lang="fr-FR" dirty="0"/>
              <a:t>²(5) </a:t>
            </a:r>
          </a:p>
          <a:p>
            <a:endParaRPr lang="fr-FR" dirty="0"/>
          </a:p>
          <a:p>
            <a:endParaRPr lang="el-G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06235D5-61C7-575C-4ACA-839F9564F35B}"/>
              </a:ext>
            </a:extLst>
          </p:cNvPr>
          <p:cNvSpPr txBox="1"/>
          <p:nvPr/>
        </p:nvSpPr>
        <p:spPr>
          <a:xfrm>
            <a:off x="1002889" y="4474697"/>
            <a:ext cx="87503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Pourquoi ? </a:t>
            </a:r>
          </a:p>
          <a:p>
            <a:endParaRPr lang="fr-FR" sz="2000" dirty="0"/>
          </a:p>
          <a:p>
            <a:r>
              <a:rPr lang="fr-FR" sz="2000" dirty="0"/>
              <a:t>Coût métier d’un départ non détecté est plus élevé que le coût d’une fausse alerte</a:t>
            </a:r>
          </a:p>
          <a:p>
            <a:r>
              <a:rPr lang="fr-FR" sz="2000" dirty="0"/>
              <a:t>Process d’évaluation en cross validation</a:t>
            </a:r>
          </a:p>
          <a:p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BF217B-AF5F-31A2-FAF7-A17FC4C15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89" y="4338162"/>
            <a:ext cx="319132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9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DADD-7334-0DA0-8E32-F6AC49C33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D2EA632-940E-52D4-8F43-74A4504F5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DC48F5B-D009-A7DF-BFE1-90C4A8F16F55}"/>
              </a:ext>
            </a:extLst>
          </p:cNvPr>
          <p:cNvSpPr txBox="1"/>
          <p:nvPr/>
        </p:nvSpPr>
        <p:spPr>
          <a:xfrm>
            <a:off x="1052053" y="828019"/>
            <a:ext cx="36176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80 % Train </a:t>
            </a:r>
          </a:p>
          <a:p>
            <a:r>
              <a:rPr lang="fr-FR" dirty="0"/>
              <a:t>20 % Test </a:t>
            </a:r>
          </a:p>
          <a:p>
            <a:r>
              <a:rPr lang="fr-FR" dirty="0" err="1"/>
              <a:t>Dummy</a:t>
            </a:r>
            <a:r>
              <a:rPr lang="fr-FR" dirty="0"/>
              <a:t> (modèle étalon basique)</a:t>
            </a:r>
          </a:p>
          <a:p>
            <a:r>
              <a:rPr lang="fr-FR" dirty="0" err="1"/>
              <a:t>Regression</a:t>
            </a:r>
            <a:r>
              <a:rPr lang="fr-FR" dirty="0"/>
              <a:t> logistique (Classification)</a:t>
            </a:r>
          </a:p>
          <a:p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</a:t>
            </a:r>
            <a:r>
              <a:rPr lang="fr-FR" dirty="0"/>
              <a:t> ( Arbre de décision)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D3E8BA-DC8E-577C-C224-B6E1E2AC0309}"/>
              </a:ext>
            </a:extLst>
          </p:cNvPr>
          <p:cNvSpPr txBox="1"/>
          <p:nvPr/>
        </p:nvSpPr>
        <p:spPr>
          <a:xfrm>
            <a:off x="973394" y="285135"/>
            <a:ext cx="7567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Entrainement sur 3 algorithmes du jeu de données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2DEBF84-FE68-FB87-CE4A-E19C8F2CA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" y="3180891"/>
            <a:ext cx="4047764" cy="367711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B47BB9A-0249-81B0-436D-7B9929AEB55D}"/>
              </a:ext>
            </a:extLst>
          </p:cNvPr>
          <p:cNvSpPr txBox="1"/>
          <p:nvPr/>
        </p:nvSpPr>
        <p:spPr>
          <a:xfrm>
            <a:off x="0" y="2663419"/>
            <a:ext cx="3548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Dummy</a:t>
            </a:r>
            <a:r>
              <a:rPr lang="fr-FR" sz="1400" dirty="0"/>
              <a:t> : Prédit toujours la classe majoritaire, </a:t>
            </a:r>
          </a:p>
          <a:p>
            <a:r>
              <a:rPr lang="fr-FR" sz="1400" dirty="0" err="1"/>
              <a:t>accuracy</a:t>
            </a:r>
            <a:r>
              <a:rPr lang="fr-FR" sz="1400" dirty="0"/>
              <a:t> élevée mais </a:t>
            </a:r>
            <a:r>
              <a:rPr lang="fr-FR" sz="1400" dirty="0" err="1"/>
              <a:t>recall</a:t>
            </a:r>
            <a:r>
              <a:rPr lang="fr-FR" sz="1400" dirty="0"/>
              <a:t> nul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B57985E-E1BB-AFDF-94C8-886A79F09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914" y="3253508"/>
            <a:ext cx="3967826" cy="360449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07A70B0-25C4-4126-7464-4609DC16A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646" y="3180888"/>
            <a:ext cx="4047764" cy="367711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6423501-B53B-E0BE-665B-27D4868E1B46}"/>
              </a:ext>
            </a:extLst>
          </p:cNvPr>
          <p:cNvSpPr txBox="1"/>
          <p:nvPr/>
        </p:nvSpPr>
        <p:spPr>
          <a:xfrm>
            <a:off x="4665293" y="2663419"/>
            <a:ext cx="28516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Régression logistique </a:t>
            </a:r>
          </a:p>
          <a:p>
            <a:r>
              <a:rPr lang="fr-FR" sz="1400" dirty="0"/>
              <a:t>Bon </a:t>
            </a:r>
            <a:r>
              <a:rPr lang="fr-FR" sz="1400" dirty="0" err="1"/>
              <a:t>recall</a:t>
            </a:r>
            <a:r>
              <a:rPr lang="fr-FR" sz="1400" dirty="0"/>
              <a:t> et simple à implémenter </a:t>
            </a:r>
          </a:p>
          <a:p>
            <a:endParaRPr lang="fr-FR" sz="14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6E505E9-A0D7-C6B1-364E-F5FDED866727}"/>
              </a:ext>
            </a:extLst>
          </p:cNvPr>
          <p:cNvSpPr txBox="1"/>
          <p:nvPr/>
        </p:nvSpPr>
        <p:spPr>
          <a:xfrm>
            <a:off x="8308145" y="2663419"/>
            <a:ext cx="34245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Arbre de décision : Moins de fausses alertes </a:t>
            </a:r>
          </a:p>
          <a:p>
            <a:r>
              <a:rPr lang="fr-FR" sz="1400" dirty="0"/>
              <a:t>mais plus de départs non détectés (coûteux)</a:t>
            </a:r>
          </a:p>
        </p:txBody>
      </p:sp>
    </p:spTree>
    <p:extLst>
      <p:ext uri="{BB962C8B-B14F-4D97-AF65-F5344CB8AC3E}">
        <p14:creationId xmlns:p14="http://schemas.microsoft.com/office/powerpoint/2010/main" val="363018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0D3E675-3BDE-24B1-6201-3F82EE1CFE3C}"/>
              </a:ext>
            </a:extLst>
          </p:cNvPr>
          <p:cNvSpPr txBox="1"/>
          <p:nvPr/>
        </p:nvSpPr>
        <p:spPr>
          <a:xfrm>
            <a:off x="207416" y="762448"/>
            <a:ext cx="49668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Modèle étalon de classification ( </a:t>
            </a:r>
            <a:r>
              <a:rPr lang="fr-FR" dirty="0" err="1"/>
              <a:t>DummyClassifier</a:t>
            </a:r>
            <a:r>
              <a:rPr lang="fr-FR" dirty="0"/>
              <a:t> )</a:t>
            </a:r>
          </a:p>
          <a:p>
            <a:r>
              <a:rPr lang="fr-FR" dirty="0"/>
              <a:t>Un corps sans tête </a:t>
            </a:r>
            <a:r>
              <a:rPr lang="fr-FR" dirty="0">
                <a:sym typeface="Wingdings" panose="05000000000000000000" pitchFamily="2" charset="2"/>
              </a:rPr>
              <a:t>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62B5F0-E639-4037-74D0-7151F5D01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" r="4057" b="8750"/>
          <a:stretch>
            <a:fillRect/>
          </a:stretch>
        </p:blipFill>
        <p:spPr>
          <a:xfrm>
            <a:off x="312249" y="1510580"/>
            <a:ext cx="3532165" cy="191842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912B5A8-CEC5-7A64-27DD-814B944969DE}"/>
              </a:ext>
            </a:extLst>
          </p:cNvPr>
          <p:cNvSpPr txBox="1"/>
          <p:nvPr/>
        </p:nvSpPr>
        <p:spPr>
          <a:xfrm>
            <a:off x="207416" y="4199914"/>
            <a:ext cx="9174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Prédit toujours la classe majoritaire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Prédire aléatoirement une classe basée sur le jeu d’entrainement de la classe de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Prédit toujours une classe spécifique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3CA9D0F-6632-5E1D-6925-E2699D605258}"/>
              </a:ext>
            </a:extLst>
          </p:cNvPr>
          <p:cNvSpPr txBox="1"/>
          <p:nvPr/>
        </p:nvSpPr>
        <p:spPr>
          <a:xfrm>
            <a:off x="207416" y="3830582"/>
            <a:ext cx="1225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Fonction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364C4CE-AE87-BB07-0F7B-1DF4F87EFD3D}"/>
              </a:ext>
            </a:extLst>
          </p:cNvPr>
          <p:cNvSpPr txBox="1"/>
          <p:nvPr/>
        </p:nvSpPr>
        <p:spPr>
          <a:xfrm>
            <a:off x="6693383" y="816996"/>
            <a:ext cx="3758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Métrique clé : la Précision ( </a:t>
            </a:r>
            <a:r>
              <a:rPr lang="fr-FR" dirty="0" err="1"/>
              <a:t>Accuracy</a:t>
            </a:r>
            <a:r>
              <a:rPr lang="fr-FR" dirty="0"/>
              <a:t> )</a:t>
            </a: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DE0C1D-5CC9-C413-0B44-45B52E8EBC53}"/>
              </a:ext>
            </a:extLst>
          </p:cNvPr>
          <p:cNvSpPr txBox="1"/>
          <p:nvPr/>
        </p:nvSpPr>
        <p:spPr>
          <a:xfrm>
            <a:off x="207416" y="5705731"/>
            <a:ext cx="78886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Plus souvent : (Choisit toujours la classe plus commune),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Stratifié : (Fait des prédictions basé sur la classe originale)		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Uniforme : (Prends une classe au hasard)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D800D08-144F-D698-B212-DEE8EBB09F62}"/>
              </a:ext>
            </a:extLst>
          </p:cNvPr>
          <p:cNvSpPr txBox="1"/>
          <p:nvPr/>
        </p:nvSpPr>
        <p:spPr>
          <a:xfrm>
            <a:off x="207416" y="5229821"/>
            <a:ext cx="2328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Choix d’une stratégie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AD9A135-7166-0F03-5447-D7622E5A4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60" t="35310" r="18301" b="31428"/>
          <a:stretch>
            <a:fillRect/>
          </a:stretch>
        </p:blipFill>
        <p:spPr>
          <a:xfrm>
            <a:off x="7520900" y="1336343"/>
            <a:ext cx="2103365" cy="228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84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60D0C8F-F47E-8B31-B13B-214092F7C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45" y="2970277"/>
            <a:ext cx="4525006" cy="221010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6703988-7F78-1667-E89C-CD4453B0A532}"/>
              </a:ext>
            </a:extLst>
          </p:cNvPr>
          <p:cNvSpPr txBox="1"/>
          <p:nvPr/>
        </p:nvSpPr>
        <p:spPr>
          <a:xfrm>
            <a:off x="265545" y="212609"/>
            <a:ext cx="206894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/>
              <a:t>Regression</a:t>
            </a:r>
            <a:r>
              <a:rPr lang="fr-FR" sz="2800" dirty="0"/>
              <a:t> Logistique 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EB18136-FA1A-5439-021D-4CA6B36138C2}"/>
              </a:ext>
            </a:extLst>
          </p:cNvPr>
          <p:cNvSpPr txBox="1"/>
          <p:nvPr/>
        </p:nvSpPr>
        <p:spPr>
          <a:xfrm>
            <a:off x="265545" y="5504873"/>
            <a:ext cx="82856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peut dire que c’est une fonction Sigmoïde (en forme de S) à exponentiel local</a:t>
            </a:r>
          </a:p>
          <a:p>
            <a:r>
              <a:rPr lang="fr-FR" dirty="0"/>
              <a:t>Définition : </a:t>
            </a:r>
          </a:p>
          <a:p>
            <a:r>
              <a:rPr lang="fr-FR" dirty="0"/>
              <a:t>Fonction d’une variable probabiliste dépendante </a:t>
            </a:r>
          </a:p>
          <a:p>
            <a:r>
              <a:rPr lang="fr-FR" dirty="0"/>
              <a:t>comprenant un prédicateur z linéaire qui regroupe toutes les variables indépendantes.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4688022-81E0-70F6-EE0D-51E334CAE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66196"/>
            <a:ext cx="4515849" cy="221010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CE4726A-2A03-3840-45DA-5829A15E8B00}"/>
              </a:ext>
            </a:extLst>
          </p:cNvPr>
          <p:cNvSpPr txBox="1"/>
          <p:nvPr/>
        </p:nvSpPr>
        <p:spPr>
          <a:xfrm>
            <a:off x="7221552" y="2600945"/>
            <a:ext cx="3460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Compromis Biais Variance Modéré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1F78525-17A3-1DC9-DB7C-DEDC27BE85CB}"/>
              </a:ext>
            </a:extLst>
          </p:cNvPr>
          <p:cNvSpPr txBox="1"/>
          <p:nvPr/>
        </p:nvSpPr>
        <p:spPr>
          <a:xfrm>
            <a:off x="7206661" y="3105834"/>
            <a:ext cx="46750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Régression Régularisé, Modèle équilibré</a:t>
            </a:r>
          </a:p>
          <a:p>
            <a:endParaRPr lang="fr-FR" dirty="0"/>
          </a:p>
          <a:p>
            <a:r>
              <a:rPr lang="fr-FR" dirty="0"/>
              <a:t>Ridge L2 ou Lasso L1 : paramètres d ’ajustement</a:t>
            </a:r>
          </a:p>
          <a:p>
            <a:r>
              <a:rPr lang="fr-FR" dirty="0"/>
              <a:t>C hyper paramètre abstrait de régularisation </a:t>
            </a:r>
          </a:p>
          <a:p>
            <a:r>
              <a:rPr lang="fr-FR" dirty="0"/>
              <a:t>basé sur une fonction inverse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5FB375C-EEF9-F354-4424-E14E81886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682" y="212609"/>
            <a:ext cx="2482982" cy="147582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183C63F-7550-763D-F0BF-794F6C7C1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172" y="4301081"/>
            <a:ext cx="914528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95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FA472-16A2-DDB1-AF9B-DAFAA920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Forêt aléatoire et Arbres de décisions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8438E92-134F-34D3-B35D-5AE71320E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00" y="1610237"/>
            <a:ext cx="6502400" cy="38735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CF73056-4C62-1BF0-0A3B-FA632CB991C3}"/>
              </a:ext>
            </a:extLst>
          </p:cNvPr>
          <p:cNvSpPr txBox="1"/>
          <p:nvPr/>
        </p:nvSpPr>
        <p:spPr>
          <a:xfrm>
            <a:off x="302309" y="5580827"/>
            <a:ext cx="5084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variables sont classifiées en plusieurs arbres de </a:t>
            </a:r>
          </a:p>
          <a:p>
            <a:r>
              <a:rPr lang="fr-FR" dirty="0"/>
              <a:t>nœuds et de feuilles avec une décision finale binaire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3823F8-D2F3-D5A4-1076-B6B26EED16BB}"/>
              </a:ext>
            </a:extLst>
          </p:cNvPr>
          <p:cNvSpPr txBox="1"/>
          <p:nvPr/>
        </p:nvSpPr>
        <p:spPr>
          <a:xfrm>
            <a:off x="6962219" y="4189159"/>
            <a:ext cx="352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⅀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4821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D672DD6-73A5-B16A-6E40-1E2031E712B8}"/>
              </a:ext>
            </a:extLst>
          </p:cNvPr>
          <p:cNvSpPr txBox="1"/>
          <p:nvPr/>
        </p:nvSpPr>
        <p:spPr>
          <a:xfrm>
            <a:off x="838200" y="154411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none" strike="noStrike" dirty="0">
                <a:effectLst/>
                <a:latin typeface="Google Sans"/>
              </a:rPr>
              <a:t>Principe :</a:t>
            </a:r>
            <a:r>
              <a:rPr lang="fr-FR" dirty="0"/>
              <a:t> Le modèle attribue automatiquement un poids plus élevé aux classes rares (minoritaires) et un poids plus faible aux classes fréquentes (majoritaires).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F4A03A-A55E-6EC6-A58A-0C8437A0E004}"/>
              </a:ext>
            </a:extLst>
          </p:cNvPr>
          <p:cNvSpPr txBox="1"/>
          <p:nvPr/>
        </p:nvSpPr>
        <p:spPr>
          <a:xfrm>
            <a:off x="780475" y="1092388"/>
            <a:ext cx="2645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(Class </a:t>
            </a:r>
            <a:r>
              <a:rPr lang="fr-FR" dirty="0" err="1"/>
              <a:t>Weight</a:t>
            </a:r>
            <a:r>
              <a:rPr lang="fr-FR" dirty="0"/>
              <a:t> = </a:t>
            </a:r>
            <a:r>
              <a:rPr lang="fr-FR" dirty="0" err="1"/>
              <a:t>Balanced</a:t>
            </a:r>
            <a:r>
              <a:rPr lang="fr-FR" dirty="0"/>
              <a:t> 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22CBA5-C3BB-81F5-6103-13008ADEB322}"/>
              </a:ext>
            </a:extLst>
          </p:cNvPr>
          <p:cNvSpPr txBox="1"/>
          <p:nvPr/>
        </p:nvSpPr>
        <p:spPr>
          <a:xfrm>
            <a:off x="3426392" y="172172"/>
            <a:ext cx="8315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Equilibrage des classes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F5748E1-402E-9BD7-774D-AA0A8E1DA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32238"/>
            <a:ext cx="1867161" cy="59063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F769B27-FCA9-5623-30F6-345C90C09A19}"/>
              </a:ext>
            </a:extLst>
          </p:cNvPr>
          <p:cNvSpPr txBox="1"/>
          <p:nvPr/>
        </p:nvSpPr>
        <p:spPr>
          <a:xfrm>
            <a:off x="780475" y="3387662"/>
            <a:ext cx="5154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Formule qui calcule le poids dans la fonction de coût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F200220-0BEA-0BE0-65A7-238ACE0D110F}"/>
              </a:ext>
            </a:extLst>
          </p:cNvPr>
          <p:cNvSpPr txBox="1"/>
          <p:nvPr/>
        </p:nvSpPr>
        <p:spPr>
          <a:xfrm>
            <a:off x="780475" y="776533"/>
            <a:ext cx="11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Paramètre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AEEB99C-9BFD-8F8D-5FEA-3DC96F1B9CF3}"/>
              </a:ext>
            </a:extLst>
          </p:cNvPr>
          <p:cNvSpPr txBox="1"/>
          <p:nvPr/>
        </p:nvSpPr>
        <p:spPr>
          <a:xfrm>
            <a:off x="2507226" y="2611605"/>
            <a:ext cx="1365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Échantillons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EDF8ECA-EF0F-F606-6836-A0591B61032E}"/>
              </a:ext>
            </a:extLst>
          </p:cNvPr>
          <p:cNvSpPr txBox="1"/>
          <p:nvPr/>
        </p:nvSpPr>
        <p:spPr>
          <a:xfrm>
            <a:off x="2103433" y="4268237"/>
            <a:ext cx="3131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Augmente la fiabilité du rappel </a:t>
            </a:r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8BB0FA81-7E4F-2B7A-2D95-A1A633458FE1}"/>
              </a:ext>
            </a:extLst>
          </p:cNvPr>
          <p:cNvSpPr/>
          <p:nvPr/>
        </p:nvSpPr>
        <p:spPr>
          <a:xfrm>
            <a:off x="940843" y="4231677"/>
            <a:ext cx="842273" cy="442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728B519-FC0D-2710-0329-DD92886B0273}"/>
              </a:ext>
            </a:extLst>
          </p:cNvPr>
          <p:cNvSpPr txBox="1"/>
          <p:nvPr/>
        </p:nvSpPr>
        <p:spPr>
          <a:xfrm>
            <a:off x="780475" y="4906879"/>
            <a:ext cx="93567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Renforce la classe minoritaire qui est le nombre de FN, c’est à de départs non détectés</a:t>
            </a:r>
          </a:p>
          <a:p>
            <a:r>
              <a:rPr lang="fr-FR" dirty="0"/>
              <a:t>Au lieu de calculer une simple moyenne des erreurs, </a:t>
            </a:r>
          </a:p>
          <a:p>
            <a:r>
              <a:rPr lang="fr-FR" dirty="0"/>
              <a:t>Pourquoi : </a:t>
            </a:r>
          </a:p>
          <a:p>
            <a:r>
              <a:rPr lang="fr-FR" dirty="0"/>
              <a:t>l'algorithme applique le poids w calculé pour chaque classe directement dans la fonction de coût. </a:t>
            </a:r>
          </a:p>
          <a:p>
            <a:r>
              <a:rPr lang="fr-FR" dirty="0"/>
              <a:t>Log </a:t>
            </a:r>
            <a:r>
              <a:rPr lang="fr-FR" dirty="0" err="1"/>
              <a:t>loss</a:t>
            </a:r>
            <a:r>
              <a:rPr lang="fr-FR" dirty="0"/>
              <a:t> = Utilisation d’un logarithme avec n’importe quel base exemple la base d'Euler -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68EEB8A-7FA0-4AFF-0235-3659C85E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38" y="1296309"/>
            <a:ext cx="4434943" cy="315659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52D8B3BA-9481-5801-0942-DC2290DC784B}"/>
              </a:ext>
            </a:extLst>
          </p:cNvPr>
          <p:cNvSpPr txBox="1"/>
          <p:nvPr/>
        </p:nvSpPr>
        <p:spPr>
          <a:xfrm>
            <a:off x="9014450" y="-16718"/>
            <a:ext cx="30249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Imaginons un jeu de </a:t>
            </a:r>
          </a:p>
          <a:p>
            <a:r>
              <a:rPr lang="fr-FR" dirty="0"/>
              <a:t>données de </a:t>
            </a:r>
            <a:r>
              <a:rPr lang="fr-FR" b="1" dirty="0"/>
              <a:t>100 transactions</a:t>
            </a:r>
            <a:r>
              <a:rPr lang="fr-FR" dirty="0"/>
              <a:t> :</a:t>
            </a:r>
          </a:p>
          <a:p>
            <a:r>
              <a:rPr lang="fr-FR" b="1" dirty="0"/>
              <a:t>90</a:t>
            </a:r>
            <a:r>
              <a:rPr lang="fr-FR" dirty="0"/>
              <a:t> Légitimes (Classe 0)</a:t>
            </a:r>
          </a:p>
          <a:p>
            <a:r>
              <a:rPr lang="fr-FR" b="1" dirty="0"/>
              <a:t>10</a:t>
            </a:r>
            <a:r>
              <a:rPr lang="fr-FR" dirty="0"/>
              <a:t> Frauduleuses (Classe 1)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2246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A6D98-A328-1644-7EED-D5D08BE3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0754673-84D3-ACB7-D1EA-7543A3A2A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6C86358-B332-1A4D-55D5-9F1E4B712567}"/>
              </a:ext>
            </a:extLst>
          </p:cNvPr>
          <p:cNvSpPr txBox="1"/>
          <p:nvPr/>
        </p:nvSpPr>
        <p:spPr>
          <a:xfrm>
            <a:off x="373626" y="774692"/>
            <a:ext cx="746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Méthode diviser le jeu de train en échantillon égaux ex : 20 % 20 % 20 % 20 %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6744FD0-B532-C47E-D2C2-C075A4D7B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79253"/>
            <a:ext cx="12192000" cy="517874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DFBA5B5-1BBD-6C69-9AA1-2F83BA9F994D}"/>
              </a:ext>
            </a:extLst>
          </p:cNvPr>
          <p:cNvSpPr txBox="1"/>
          <p:nvPr/>
        </p:nvSpPr>
        <p:spPr>
          <a:xfrm>
            <a:off x="373626" y="147130"/>
            <a:ext cx="2498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Validation Croisée </a:t>
            </a:r>
          </a:p>
        </p:txBody>
      </p:sp>
    </p:spTree>
    <p:extLst>
      <p:ext uri="{BB962C8B-B14F-4D97-AF65-F5344CB8AC3E}">
        <p14:creationId xmlns:p14="http://schemas.microsoft.com/office/powerpoint/2010/main" val="3651035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08164-40E5-2EEE-6134-4DE9DAEC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3B75690-E7EF-D98D-E8F5-14EB6B867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E65B175-A78A-1A12-8926-7F87A619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13" y="1045763"/>
            <a:ext cx="10044727" cy="553646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E02A553-5C02-4089-3984-0AC5BE8CACB1}"/>
              </a:ext>
            </a:extLst>
          </p:cNvPr>
          <p:cNvSpPr txBox="1"/>
          <p:nvPr/>
        </p:nvSpPr>
        <p:spPr>
          <a:xfrm>
            <a:off x="603608" y="214766"/>
            <a:ext cx="117071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La cross validation amplifie les bons résultats de la régression logistique et valide notre choix</a:t>
            </a:r>
          </a:p>
          <a:p>
            <a:r>
              <a:rPr lang="fr-FR" sz="2400" dirty="0"/>
              <a:t>Pour notre métrique phare F5 score et </a:t>
            </a:r>
            <a:r>
              <a:rPr lang="fr-FR" sz="2400" dirty="0" err="1"/>
              <a:t>Recall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3218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D521-832C-4CBD-7EEE-AA0D07D2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1302D9E-0083-B14B-3632-C831F9334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62579D4-93FA-3598-5DA2-4B7191E00C22}"/>
              </a:ext>
            </a:extLst>
          </p:cNvPr>
          <p:cNvSpPr txBox="1"/>
          <p:nvPr/>
        </p:nvSpPr>
        <p:spPr>
          <a:xfrm>
            <a:off x="353962" y="334296"/>
            <a:ext cx="10989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Régression logistique optimisée avec Hyper paramètres avec la méthode de recherche </a:t>
            </a:r>
          </a:p>
          <a:p>
            <a:r>
              <a:rPr lang="fr-FR" sz="2400" dirty="0"/>
              <a:t>par grille en validation croisée : (</a:t>
            </a:r>
            <a:r>
              <a:rPr lang="fr-FR" sz="2400" dirty="0" err="1"/>
              <a:t>GridSearch</a:t>
            </a:r>
            <a:r>
              <a:rPr lang="fr-FR" sz="2400" dirty="0"/>
              <a:t> CV)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A280DC-EED8-50DF-935A-3354226C4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910" y="1275801"/>
            <a:ext cx="5616677" cy="510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52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u contenu 4">
            <a:extLst>
              <a:ext uri="{FF2B5EF4-FFF2-40B4-BE49-F238E27FC236}">
                <a16:creationId xmlns:a16="http://schemas.microsoft.com/office/drawing/2014/main" id="{FCBB17B1-D18F-F6B4-16D7-77C5B2877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49262AD-6899-9773-09E1-CE42D9E4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4838"/>
            <a:ext cx="10515600" cy="1325563"/>
          </a:xfrm>
        </p:spPr>
        <p:txBody>
          <a:bodyPr/>
          <a:lstStyle/>
          <a:p>
            <a:r>
              <a:rPr lang="fr-FR" dirty="0"/>
              <a:t>Les Hyper paramètres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278993-AC33-DE17-D5BA-9DE4ED3F6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Régularisation L1 Lasso (pénalité): </a:t>
            </a:r>
          </a:p>
          <a:p>
            <a:endParaRPr lang="fr-FR" sz="2400" dirty="0"/>
          </a:p>
          <a:p>
            <a:r>
              <a:rPr lang="fr-FR" sz="2400" dirty="0"/>
              <a:t>Régularisation </a:t>
            </a:r>
            <a:r>
              <a:rPr lang="fr-FR" sz="2400" b="1" dirty="0">
                <a:solidFill>
                  <a:srgbClr val="FF0000"/>
                </a:solidFill>
              </a:rPr>
              <a:t>L2 Ridge </a:t>
            </a:r>
            <a:r>
              <a:rPr lang="fr-FR" sz="2400" dirty="0"/>
              <a:t>(pénalité): </a:t>
            </a:r>
          </a:p>
          <a:p>
            <a:pPr marL="0" indent="0">
              <a:buNone/>
            </a:pPr>
            <a:r>
              <a:rPr lang="fr-FR" sz="1400" dirty="0"/>
              <a:t>		</a:t>
            </a:r>
            <a:r>
              <a:rPr lang="fr-FR" sz="1800" dirty="0"/>
              <a:t>	</a:t>
            </a:r>
            <a:endParaRPr lang="fr-FR" dirty="0"/>
          </a:p>
          <a:p>
            <a:r>
              <a:rPr lang="fr-FR" dirty="0"/>
              <a:t>Paramètre C :</a:t>
            </a:r>
          </a:p>
          <a:p>
            <a:endParaRPr lang="fr-FR" dirty="0"/>
          </a:p>
          <a:p>
            <a:r>
              <a:rPr lang="fr-FR" dirty="0"/>
              <a:t>Solver : 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0DEB54-DB87-E3CC-7F36-950F2C19C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991" y="2505024"/>
            <a:ext cx="1800390" cy="6985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A09CCA8-6C33-0D74-EAEA-57C0C1704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293" y="3995285"/>
            <a:ext cx="914528" cy="6477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C6612DF-912C-91F5-851D-6B06AC48C3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008" y="1345028"/>
            <a:ext cx="1613577" cy="67500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98BFAB2-0A1C-4AFC-9C2F-214090FE6809}"/>
              </a:ext>
            </a:extLst>
          </p:cNvPr>
          <p:cNvSpPr txBox="1"/>
          <p:nvPr/>
        </p:nvSpPr>
        <p:spPr>
          <a:xfrm>
            <a:off x="7723203" y="1033257"/>
            <a:ext cx="39712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Elle ajoute à la fonction de coût des </a:t>
            </a:r>
          </a:p>
          <a:p>
            <a:r>
              <a:rPr lang="fr-FR" dirty="0"/>
              <a:t>moindres carrés un terme proportionnel</a:t>
            </a:r>
          </a:p>
          <a:p>
            <a:r>
              <a:rPr lang="fr-FR" dirty="0"/>
              <a:t> à la </a:t>
            </a:r>
            <a:r>
              <a:rPr lang="fr-FR" i="1" dirty="0"/>
              <a:t>somme des valeurs absolues</a:t>
            </a:r>
          </a:p>
          <a:p>
            <a:r>
              <a:rPr lang="fr-FR" dirty="0"/>
              <a:t> des coefficients du modèle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C98FF2C-044F-A6E8-836F-D95B2DE8C78C}"/>
              </a:ext>
            </a:extLst>
          </p:cNvPr>
          <p:cNvSpPr txBox="1"/>
          <p:nvPr/>
        </p:nvSpPr>
        <p:spPr>
          <a:xfrm>
            <a:off x="4497078" y="3192761"/>
            <a:ext cx="7865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		Elle pénalise la </a:t>
            </a:r>
            <a:r>
              <a:rPr lang="fr-FR" b="1" dirty="0"/>
              <a:t>somme des carrés</a:t>
            </a:r>
            <a:r>
              <a:rPr lang="fr-FR" dirty="0"/>
              <a:t> des coefficients du modèle. </a:t>
            </a:r>
          </a:p>
          <a:p>
            <a:r>
              <a:rPr lang="fr-FR" dirty="0"/>
              <a:t>		toutes les variables sont donc conservées dans le modèle.</a:t>
            </a: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DC13067-32C7-4358-3896-F23153D46DBD}"/>
              </a:ext>
            </a:extLst>
          </p:cNvPr>
          <p:cNvSpPr txBox="1"/>
          <p:nvPr/>
        </p:nvSpPr>
        <p:spPr>
          <a:xfrm>
            <a:off x="428449" y="3995285"/>
            <a:ext cx="117196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		</a:t>
            </a:r>
            <a:r>
              <a:rPr lang="fr-FR" sz="2000" b="1" dirty="0">
                <a:solidFill>
                  <a:srgbClr val="FF0000"/>
                </a:solidFill>
              </a:rPr>
              <a:t>0.01</a:t>
            </a:r>
            <a:r>
              <a:rPr lang="fr-FR" sz="2000" dirty="0"/>
              <a:t> </a:t>
            </a:r>
            <a:r>
              <a:rPr lang="fr-FR" dirty="0"/>
              <a:t>Forte régularisation. Le modèle privilégie une frontière simple et plus générale, ce qui peut mener </a:t>
            </a:r>
          </a:p>
          <a:p>
            <a:r>
              <a:rPr lang="fr-FR" dirty="0"/>
              <a:t>		au </a:t>
            </a:r>
            <a:r>
              <a:rPr lang="fr-FR" i="1" dirty="0"/>
              <a:t>sous-apprentissage</a:t>
            </a:r>
            <a:endParaRPr lang="fr-FR" dirty="0"/>
          </a:p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0350B97-DB49-22A5-5DFC-8670C282CB5D}"/>
              </a:ext>
            </a:extLst>
          </p:cNvPr>
          <p:cNvSpPr txBox="1"/>
          <p:nvPr/>
        </p:nvSpPr>
        <p:spPr>
          <a:xfrm>
            <a:off x="1262293" y="5140937"/>
            <a:ext cx="85336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Il calcule les coefficients (poids) du modèle en minimisant l'erreur (</a:t>
            </a:r>
            <a:r>
              <a:rPr lang="fr-FR" dirty="0" err="1"/>
              <a:t>loss</a:t>
            </a:r>
            <a:r>
              <a:rPr lang="fr-FR" dirty="0"/>
              <a:t>) et en appliquant </a:t>
            </a:r>
          </a:p>
          <a:p>
            <a:r>
              <a:rPr lang="fr-FR" dirty="0"/>
              <a:t>une pénalité de régularisation (L₁ ou L₂). </a:t>
            </a:r>
            <a:r>
              <a:rPr lang="fr-FR" dirty="0" err="1">
                <a:solidFill>
                  <a:srgbClr val="FF0000"/>
                </a:solidFill>
              </a:rPr>
              <a:t>Liblinear</a:t>
            </a:r>
            <a:r>
              <a:rPr lang="fr-FR" dirty="0">
                <a:solidFill>
                  <a:srgbClr val="FF0000"/>
                </a:solidFill>
              </a:rPr>
              <a:t> (</a:t>
            </a:r>
            <a:r>
              <a:rPr lang="fr-FR" dirty="0"/>
              <a:t>Descente par coordonnées) ou </a:t>
            </a:r>
          </a:p>
          <a:p>
            <a:r>
              <a:rPr lang="fr-FR" b="1" dirty="0" err="1"/>
              <a:t>lbfgs</a:t>
            </a:r>
            <a:r>
              <a:rPr lang="fr-FR" dirty="0"/>
              <a:t> </a:t>
            </a:r>
            <a:r>
              <a:rPr lang="en-US" dirty="0"/>
              <a:t>(Limited-memory </a:t>
            </a:r>
            <a:r>
              <a:rPr lang="en-US" dirty="0" err="1"/>
              <a:t>Broyden</a:t>
            </a:r>
            <a:r>
              <a:rPr lang="en-US" dirty="0"/>
              <a:t>–Fletcher–Goldfarb–Shanno)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4673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02FB-2482-C080-9F80-B08F86C8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4C0CC6A-DBF3-5B9F-C81C-FF64A1F9A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D7C6AD-3818-7FA3-AF9F-9E4A560D9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9058"/>
            <a:ext cx="12192000" cy="517874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0A510D1-3343-B19C-3B9F-CC60CC5F34A3}"/>
              </a:ext>
            </a:extLst>
          </p:cNvPr>
          <p:cNvSpPr txBox="1"/>
          <p:nvPr/>
        </p:nvSpPr>
        <p:spPr>
          <a:xfrm>
            <a:off x="766916" y="599768"/>
            <a:ext cx="433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Résultats Finaux des algorithmes </a:t>
            </a:r>
          </a:p>
        </p:txBody>
      </p:sp>
    </p:spTree>
    <p:extLst>
      <p:ext uri="{BB962C8B-B14F-4D97-AF65-F5344CB8AC3E}">
        <p14:creationId xmlns:p14="http://schemas.microsoft.com/office/powerpoint/2010/main" val="191811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551F-6726-FC36-BC49-18163B1D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17AFCE-28FD-51FF-CA19-162986C17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35AA88E-7408-1306-9122-86BB3C69263E}"/>
              </a:ext>
            </a:extLst>
          </p:cNvPr>
          <p:cNvSpPr txBox="1"/>
          <p:nvPr/>
        </p:nvSpPr>
        <p:spPr>
          <a:xfrm>
            <a:off x="1022555" y="186813"/>
            <a:ext cx="8222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Comment optimiser encore le nombre de départ non détectés ?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0021F4-2AB9-510E-4BB7-FD289698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03" y="1593258"/>
            <a:ext cx="7056583" cy="466559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2640CB4-7931-161F-DD60-1D1E828563D9}"/>
              </a:ext>
            </a:extLst>
          </p:cNvPr>
          <p:cNvSpPr txBox="1"/>
          <p:nvPr/>
        </p:nvSpPr>
        <p:spPr>
          <a:xfrm>
            <a:off x="1457904" y="1945432"/>
            <a:ext cx="5710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Choix de 0,4 a cause de deux drops successifs de précision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1D3DD1-FEB8-A8BE-EF5B-FF9E4657233E}"/>
              </a:ext>
            </a:extLst>
          </p:cNvPr>
          <p:cNvSpPr txBox="1"/>
          <p:nvPr/>
        </p:nvSpPr>
        <p:spPr>
          <a:xfrm>
            <a:off x="987718" y="835290"/>
            <a:ext cx="85527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Courbe </a:t>
            </a:r>
            <a:r>
              <a:rPr lang="fr-FR" dirty="0" err="1"/>
              <a:t>Recall</a:t>
            </a:r>
            <a:r>
              <a:rPr lang="fr-FR" dirty="0"/>
              <a:t> / Précision, baisser le seuil à 0.4 pour amplifier encore le </a:t>
            </a:r>
            <a:r>
              <a:rPr lang="fr-FR" dirty="0" err="1"/>
              <a:t>recall</a:t>
            </a:r>
            <a:r>
              <a:rPr lang="fr-FR" dirty="0"/>
              <a:t> par rapport </a:t>
            </a:r>
          </a:p>
          <a:p>
            <a:r>
              <a:rPr lang="fr-FR" dirty="0"/>
              <a:t>A la précision</a:t>
            </a:r>
          </a:p>
          <a:p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6E67C6-E270-CA29-937B-1D90BEAD6F8E}"/>
              </a:ext>
            </a:extLst>
          </p:cNvPr>
          <p:cNvSpPr txBox="1"/>
          <p:nvPr/>
        </p:nvSpPr>
        <p:spPr>
          <a:xfrm>
            <a:off x="7539407" y="2130098"/>
            <a:ext cx="45148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Déplacement du Seuil de Décision :</a:t>
            </a:r>
            <a:r>
              <a:rPr lang="fr-FR" dirty="0"/>
              <a:t> Par défaut, un modèle de régression </a:t>
            </a:r>
          </a:p>
          <a:p>
            <a:r>
              <a:rPr lang="fr-FR" dirty="0"/>
              <a:t>logistique sépare les classes à une probabilité de </a:t>
            </a:r>
            <a:r>
              <a:rPr lang="fr-FR" b="1" dirty="0"/>
              <a:t>0,5</a:t>
            </a:r>
            <a:r>
              <a:rPr lang="fr-FR" dirty="0"/>
              <a:t>. </a:t>
            </a:r>
          </a:p>
          <a:p>
            <a:endParaRPr lang="fr-FR" dirty="0"/>
          </a:p>
          <a:p>
            <a:r>
              <a:rPr lang="fr-FR" dirty="0"/>
              <a:t>Avec </a:t>
            </a:r>
            <a:r>
              <a:rPr lang="fr-FR" dirty="0" err="1"/>
              <a:t>class_weight</a:t>
            </a:r>
            <a:r>
              <a:rPr lang="fr-FR" dirty="0"/>
              <a:t>='</a:t>
            </a:r>
            <a:r>
              <a:rPr lang="fr-FR" dirty="0" err="1"/>
              <a:t>balanced</a:t>
            </a:r>
            <a:r>
              <a:rPr lang="fr-FR" dirty="0"/>
              <a:t>’, </a:t>
            </a:r>
          </a:p>
          <a:p>
            <a:r>
              <a:rPr lang="fr-FR" dirty="0"/>
              <a:t>la frontière de décision se déplace mathématiquement. </a:t>
            </a:r>
          </a:p>
          <a:p>
            <a:endParaRPr lang="fr-FR" dirty="0"/>
          </a:p>
          <a:p>
            <a:r>
              <a:rPr lang="fr-FR" dirty="0"/>
              <a:t>Le modèle plus sensible à la classe minoritaire.</a:t>
            </a:r>
          </a:p>
        </p:txBody>
      </p:sp>
    </p:spTree>
    <p:extLst>
      <p:ext uri="{BB962C8B-B14F-4D97-AF65-F5344CB8AC3E}">
        <p14:creationId xmlns:p14="http://schemas.microsoft.com/office/powerpoint/2010/main" val="4051652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24B3-A68D-DF6A-38E7-75039BBF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128505F-4157-A2C7-E3C9-1ECBF8F5A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762432B-E4DB-84C0-A593-A1FE7961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287" y="2432538"/>
            <a:ext cx="5368411" cy="40026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C83D7A6-77CC-2DC0-7507-B8D9E9A89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2" y="2432538"/>
            <a:ext cx="4661719" cy="400267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0CB8928-8582-BC6E-F52D-1565104F49A1}"/>
              </a:ext>
            </a:extLst>
          </p:cNvPr>
          <p:cNvSpPr txBox="1"/>
          <p:nvPr/>
        </p:nvSpPr>
        <p:spPr>
          <a:xfrm>
            <a:off x="6358287" y="1119886"/>
            <a:ext cx="50480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Seuil métier 0.4 plus alarmiste (fausses alertes) </a:t>
            </a:r>
          </a:p>
          <a:p>
            <a:r>
              <a:rPr lang="fr-FR" dirty="0"/>
              <a:t>mais plus efficace moins de FN (départs) </a:t>
            </a:r>
          </a:p>
          <a:p>
            <a:r>
              <a:rPr lang="fr-FR" dirty="0"/>
              <a:t>Plus de travail RH mais moins de coûts à l’entreprise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550594E-7D44-9FB0-EED8-D4EA47BAC050}"/>
              </a:ext>
            </a:extLst>
          </p:cNvPr>
          <p:cNvSpPr txBox="1"/>
          <p:nvPr/>
        </p:nvSpPr>
        <p:spPr>
          <a:xfrm>
            <a:off x="550606" y="1748139"/>
            <a:ext cx="2903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Régression logistique optimisée avec </a:t>
            </a:r>
          </a:p>
          <a:p>
            <a:r>
              <a:rPr lang="fr-FR" sz="1400" dirty="0"/>
              <a:t>Hyper paramètres et </a:t>
            </a:r>
            <a:r>
              <a:rPr lang="fr-FR" sz="1400" dirty="0" err="1"/>
              <a:t>Grid</a:t>
            </a:r>
            <a:r>
              <a:rPr lang="fr-FR" sz="1400" dirty="0"/>
              <a:t> </a:t>
            </a:r>
            <a:r>
              <a:rPr lang="fr-FR" sz="1400" dirty="0" err="1"/>
              <a:t>Search</a:t>
            </a:r>
            <a:r>
              <a:rPr lang="fr-FR" sz="1400" dirty="0"/>
              <a:t> CV</a:t>
            </a:r>
          </a:p>
        </p:txBody>
      </p:sp>
      <p:sp>
        <p:nvSpPr>
          <p:cNvPr id="10" name="Flèche : droite à entaille 9">
            <a:extLst>
              <a:ext uri="{FF2B5EF4-FFF2-40B4-BE49-F238E27FC236}">
                <a16:creationId xmlns:a16="http://schemas.microsoft.com/office/drawing/2014/main" id="{C69F66CD-F817-317F-A8B3-4B180DE33093}"/>
              </a:ext>
            </a:extLst>
          </p:cNvPr>
          <p:cNvSpPr/>
          <p:nvPr/>
        </p:nvSpPr>
        <p:spPr>
          <a:xfrm>
            <a:off x="5024284" y="3785419"/>
            <a:ext cx="993058" cy="648929"/>
          </a:xfrm>
          <a:prstGeom prst="notch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782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B0BA-9C76-0AAA-8437-33B883D6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6F38102-DD9F-0801-59EB-67BF9BD18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9E78F42-78AE-A1C7-BBDE-D57291D0F9B1}"/>
              </a:ext>
            </a:extLst>
          </p:cNvPr>
          <p:cNvSpPr txBox="1"/>
          <p:nvPr/>
        </p:nvSpPr>
        <p:spPr>
          <a:xfrm>
            <a:off x="265471" y="167150"/>
            <a:ext cx="10304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Pourquoi les salariés partent ? Quels indicateurs ? Comment éviter ça</a:t>
            </a:r>
          </a:p>
          <a:p>
            <a:r>
              <a:rPr lang="fr-FR" sz="2400" dirty="0"/>
              <a:t>Un outil : Les valeurs de SHAPLEY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E16EEF-5258-685B-8AFB-DD72DC23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" y="1203350"/>
            <a:ext cx="8255941" cy="544944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985784D-4394-BA85-7E23-20303A0AF11C}"/>
              </a:ext>
            </a:extLst>
          </p:cNvPr>
          <p:cNvSpPr txBox="1"/>
          <p:nvPr/>
        </p:nvSpPr>
        <p:spPr>
          <a:xfrm>
            <a:off x="8521412" y="1463847"/>
            <a:ext cx="3779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heures supplémentaires semblent </a:t>
            </a:r>
          </a:p>
          <a:p>
            <a:r>
              <a:rPr lang="fr-FR" dirty="0"/>
              <a:t>être une variable critique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D27DB2-85BB-FBF5-5A42-93C94DACAB6D}"/>
              </a:ext>
            </a:extLst>
          </p:cNvPr>
          <p:cNvSpPr txBox="1"/>
          <p:nvPr/>
        </p:nvSpPr>
        <p:spPr>
          <a:xfrm>
            <a:off x="8521412" y="2647674"/>
            <a:ext cx="2622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Grand Danger : Burn Out, </a:t>
            </a:r>
          </a:p>
          <a:p>
            <a:r>
              <a:rPr lang="fr-FR" dirty="0"/>
              <a:t>Démission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FEF6281-16AF-C152-F7FA-BF711385910B}"/>
              </a:ext>
            </a:extLst>
          </p:cNvPr>
          <p:cNvSpPr txBox="1"/>
          <p:nvPr/>
        </p:nvSpPr>
        <p:spPr>
          <a:xfrm>
            <a:off x="8600068" y="3831347"/>
            <a:ext cx="3218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poste semble être la variable la plus instable </a:t>
            </a:r>
          </a:p>
          <a:p>
            <a:r>
              <a:rPr lang="fr-FR" dirty="0"/>
              <a:t>Trait Noir : voir consultant / et commercial</a:t>
            </a:r>
          </a:p>
        </p:txBody>
      </p:sp>
    </p:spTree>
    <p:extLst>
      <p:ext uri="{BB962C8B-B14F-4D97-AF65-F5344CB8AC3E}">
        <p14:creationId xmlns:p14="http://schemas.microsoft.com/office/powerpoint/2010/main" val="2844505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2E07C-2F0B-4101-6D00-95C2653A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4886D53-1C45-57CE-65EF-34DBB930F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1"/>
            <a:ext cx="12191999" cy="6858000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88EB34F-02C3-BE36-5603-203E116B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29" y="-1"/>
            <a:ext cx="8131754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55A7C5E-E7B9-CB33-23AC-6E4C1272B9F7}"/>
              </a:ext>
            </a:extLst>
          </p:cNvPr>
          <p:cNvSpPr txBox="1"/>
          <p:nvPr/>
        </p:nvSpPr>
        <p:spPr>
          <a:xfrm>
            <a:off x="8721213" y="196645"/>
            <a:ext cx="31595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diagramme en nuage d'abeilles </a:t>
            </a:r>
          </a:p>
          <a:p>
            <a:r>
              <a:rPr lang="fr-FR" dirty="0"/>
              <a:t>confirme </a:t>
            </a:r>
          </a:p>
          <a:p>
            <a:r>
              <a:rPr lang="fr-FR" dirty="0"/>
              <a:t>cette tendance heures </a:t>
            </a:r>
          </a:p>
          <a:p>
            <a:r>
              <a:rPr lang="fr-FR" dirty="0"/>
              <a:t>supplémentaires</a:t>
            </a:r>
          </a:p>
          <a:p>
            <a:r>
              <a:rPr lang="fr-FR" dirty="0"/>
              <a:t>Le plus a droite et </a:t>
            </a:r>
          </a:p>
          <a:p>
            <a:r>
              <a:rPr lang="fr-FR" dirty="0"/>
              <a:t>a valeur élevée (rouge)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5CB988-E4C4-43BB-F350-13D77169CC3A}"/>
              </a:ext>
            </a:extLst>
          </p:cNvPr>
          <p:cNvSpPr txBox="1"/>
          <p:nvPr/>
        </p:nvSpPr>
        <p:spPr>
          <a:xfrm>
            <a:off x="8721213" y="2047597"/>
            <a:ext cx="2973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Fréquence de déplacement = </a:t>
            </a:r>
          </a:p>
          <a:p>
            <a:r>
              <a:rPr lang="fr-FR" dirty="0"/>
              <a:t>Pas assez de télétravail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719A68A-E603-5D11-7E73-2AAC86C5A84F}"/>
              </a:ext>
            </a:extLst>
          </p:cNvPr>
          <p:cNvSpPr txBox="1"/>
          <p:nvPr/>
        </p:nvSpPr>
        <p:spPr>
          <a:xfrm>
            <a:off x="8721213" y="2974341"/>
            <a:ext cx="3192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Distance domicile </a:t>
            </a:r>
          </a:p>
          <a:p>
            <a:r>
              <a:rPr lang="fr-FR" dirty="0"/>
              <a:t>travail = Fatigue supplémentaire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549E6B3-7DD7-9E09-E7C0-0B5BF143B05A}"/>
              </a:ext>
            </a:extLst>
          </p:cNvPr>
          <p:cNvSpPr txBox="1"/>
          <p:nvPr/>
        </p:nvSpPr>
        <p:spPr>
          <a:xfrm>
            <a:off x="8724625" y="4640654"/>
            <a:ext cx="2299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poste de consultant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1051D0-A08A-134D-9AA1-1912D128D436}"/>
              </a:ext>
            </a:extLst>
          </p:cNvPr>
          <p:cNvSpPr txBox="1"/>
          <p:nvPr/>
        </p:nvSpPr>
        <p:spPr>
          <a:xfrm>
            <a:off x="8721213" y="5298544"/>
            <a:ext cx="2660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Age : Les jeunes changent </a:t>
            </a:r>
          </a:p>
          <a:p>
            <a:r>
              <a:rPr lang="fr-FR" dirty="0"/>
              <a:t>d’entreprise plus souvent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6623E92-C43E-1933-8B90-2DB127333F77}"/>
              </a:ext>
            </a:extLst>
          </p:cNvPr>
          <p:cNvSpPr txBox="1"/>
          <p:nvPr/>
        </p:nvSpPr>
        <p:spPr>
          <a:xfrm>
            <a:off x="8731045" y="3785420"/>
            <a:ext cx="3511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Satisfaction basse = plus de départs</a:t>
            </a:r>
          </a:p>
          <a:p>
            <a:r>
              <a:rPr lang="fr-FR" dirty="0"/>
              <a:t>Mais pas systématique</a:t>
            </a:r>
          </a:p>
        </p:txBody>
      </p:sp>
    </p:spTree>
    <p:extLst>
      <p:ext uri="{BB962C8B-B14F-4D97-AF65-F5344CB8AC3E}">
        <p14:creationId xmlns:p14="http://schemas.microsoft.com/office/powerpoint/2010/main" val="1323992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1FF1-C669-9076-59E0-ACB24690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FD80EEB-D882-D72D-40BB-125068417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34C5496-E664-112D-3AAC-A298591C2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72953"/>
              </p:ext>
            </p:extLst>
          </p:nvPr>
        </p:nvGraphicFramePr>
        <p:xfrm>
          <a:off x="1740310" y="0"/>
          <a:ext cx="4298882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306">
                  <a:extLst>
                    <a:ext uri="{9D8B030D-6E8A-4147-A177-3AD203B41FA5}">
                      <a16:colId xmlns:a16="http://schemas.microsoft.com/office/drawing/2014/main" val="3993517213"/>
                    </a:ext>
                  </a:extLst>
                </a:gridCol>
                <a:gridCol w="2180576">
                  <a:extLst>
                    <a:ext uri="{9D8B030D-6E8A-4147-A177-3AD203B41FA5}">
                      <a16:colId xmlns:a16="http://schemas.microsoft.com/office/drawing/2014/main" val="2343156591"/>
                    </a:ext>
                  </a:extLst>
                </a:gridCol>
              </a:tblGrid>
              <a:tr h="33833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100" dirty="0" err="1">
                          <a:effectLst/>
                        </a:rPr>
                        <a:t>feature_apres_preprocessing</a:t>
                      </a:r>
                      <a:endParaRPr lang="fr-FR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 err="1">
                          <a:effectLst/>
                        </a:rPr>
                        <a:t>importance_moyenne_abs_shap</a:t>
                      </a:r>
                      <a:endParaRPr lang="fr-FR" sz="1100" dirty="0">
                        <a:effectLst/>
                      </a:endParaRPr>
                    </a:p>
                    <a:p>
                      <a:endParaRPr lang="fr-F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96379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categoriel__heure_supplementaires_Oui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0.3711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62440983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numerique__satisfaction_employee_environnement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0.2189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07412235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numerique__satisfaction_employee_nature_travail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0.1926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94706584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categoriel__frequence_deplacement_Frequent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0.1910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82076687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numerique__nombre_experiences_precedentes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0.1901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39614061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numerique__note_evaluation_precedente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0.1765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41426298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numerique__ratio_temps_poste_anciennete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0.1704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7105815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categoriel__poste_Consultant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0.1599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8320906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numerique__distance_domicile_travail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0.1392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63860567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331251D6-E7E8-9A0E-123B-AE08CAB8C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698601"/>
              </p:ext>
            </p:extLst>
          </p:nvPr>
        </p:nvGraphicFramePr>
        <p:xfrm>
          <a:off x="6757220" y="1550322"/>
          <a:ext cx="42988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306">
                  <a:extLst>
                    <a:ext uri="{9D8B030D-6E8A-4147-A177-3AD203B41FA5}">
                      <a16:colId xmlns:a16="http://schemas.microsoft.com/office/drawing/2014/main" val="3195717227"/>
                    </a:ext>
                  </a:extLst>
                </a:gridCol>
                <a:gridCol w="2180576">
                  <a:extLst>
                    <a:ext uri="{9D8B030D-6E8A-4147-A177-3AD203B41FA5}">
                      <a16:colId xmlns:a16="http://schemas.microsoft.com/office/drawing/2014/main" val="1831015554"/>
                    </a:ext>
                  </a:extLst>
                </a:gridCol>
              </a:tblGrid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numerique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annes_sous_responsable_actuel</a:t>
                      </a:r>
                      <a:endParaRPr lang="fr-FR" sz="11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0.1390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706035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numerique__nombre_participation_pee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0.1337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38497325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categoriel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statut_marital_Marié</a:t>
                      </a:r>
                      <a:r>
                        <a:rPr lang="fr-FR" sz="1100" dirty="0">
                          <a:effectLst/>
                        </a:rPr>
                        <a:t>(e)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0.1272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18725432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numerique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age</a:t>
                      </a:r>
                      <a:endParaRPr lang="fr-FR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0.1248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27078756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categoriel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departement_Consulting</a:t>
                      </a:r>
                      <a:endParaRPr lang="fr-FR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0.1169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38839672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numerique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annees_depuis_la_derniere_promotion</a:t>
                      </a:r>
                      <a:endParaRPr lang="fr-FR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0.1137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338039164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categoriel__statut_marital_Divorcé(e)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0.1108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256122679"/>
                  </a:ext>
                </a:extLst>
              </a:tr>
              <a:tr h="23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numerique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annee_experience_totale</a:t>
                      </a:r>
                      <a:endParaRPr lang="fr-FR" sz="11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0.1088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86125546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numerique__satisfaction_employee_equilibre_pro...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0.0980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584475264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effectLst/>
                        </a:rPr>
                        <a:t>numerique__satisfaction_employee_equipe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0.0966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80968172"/>
                  </a:ext>
                </a:extLst>
              </a:tr>
              <a:tr h="338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>
                          <a:effectLst/>
                        </a:rPr>
                        <a:t>categoriel</a:t>
                      </a:r>
                      <a:r>
                        <a:rPr lang="fr-FR" sz="1100" dirty="0">
                          <a:effectLst/>
                        </a:rPr>
                        <a:t>__</a:t>
                      </a:r>
                      <a:r>
                        <a:rPr lang="fr-FR" sz="1100" dirty="0" err="1">
                          <a:effectLst/>
                        </a:rPr>
                        <a:t>poste_Représentant</a:t>
                      </a:r>
                      <a:r>
                        <a:rPr lang="fr-FR" sz="1100" dirty="0">
                          <a:effectLst/>
                        </a:rPr>
                        <a:t> Commercial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effectLst/>
                        </a:rPr>
                        <a:t>0.0768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71413824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37E4B677-A3C0-6C46-D78D-12A7B428D6F0}"/>
              </a:ext>
            </a:extLst>
          </p:cNvPr>
          <p:cNvSpPr txBox="1"/>
          <p:nvPr/>
        </p:nvSpPr>
        <p:spPr>
          <a:xfrm>
            <a:off x="6757220" y="405830"/>
            <a:ext cx="403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Importance en valeur absolue de </a:t>
            </a:r>
            <a:r>
              <a:rPr lang="fr-FR" dirty="0" err="1"/>
              <a:t>shapley</a:t>
            </a:r>
            <a:endParaRPr lang="fr-FR" dirty="0"/>
          </a:p>
          <a:p>
            <a:r>
              <a:rPr lang="fr-FR" dirty="0"/>
              <a:t>Heures supplémentaires. </a:t>
            </a:r>
          </a:p>
        </p:txBody>
      </p:sp>
    </p:spTree>
    <p:extLst>
      <p:ext uri="{BB962C8B-B14F-4D97-AF65-F5344CB8AC3E}">
        <p14:creationId xmlns:p14="http://schemas.microsoft.com/office/powerpoint/2010/main" val="2128933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AB93-12F2-A521-8FE5-7188A733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CD66F30-AE50-A698-30C7-1FB111B4F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902A2C3-63A7-D27B-FB89-6467A4549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470" y="1234568"/>
            <a:ext cx="6994819" cy="518589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705A10A-3072-DE07-2F8B-0068BDA00200}"/>
              </a:ext>
            </a:extLst>
          </p:cNvPr>
          <p:cNvSpPr txBox="1"/>
          <p:nvPr/>
        </p:nvSpPr>
        <p:spPr>
          <a:xfrm>
            <a:off x="2075470" y="0"/>
            <a:ext cx="53792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Au </a:t>
            </a:r>
            <a:r>
              <a:rPr lang="fr-FR" b="1" dirty="0">
                <a:solidFill>
                  <a:srgbClr val="FF0000"/>
                </a:solidFill>
              </a:rPr>
              <a:t>global</a:t>
            </a:r>
            <a:r>
              <a:rPr lang="fr-FR" dirty="0"/>
              <a:t>, Le poste de </a:t>
            </a:r>
            <a:r>
              <a:rPr lang="fr-FR" b="1" dirty="0">
                <a:solidFill>
                  <a:srgbClr val="FF0000"/>
                </a:solidFill>
              </a:rPr>
              <a:t>représentant commercial</a:t>
            </a:r>
            <a:r>
              <a:rPr lang="fr-FR" dirty="0"/>
              <a:t> et les </a:t>
            </a:r>
          </a:p>
          <a:p>
            <a:r>
              <a:rPr lang="fr-FR" b="1" dirty="0">
                <a:solidFill>
                  <a:srgbClr val="FF0000"/>
                </a:solidFill>
              </a:rPr>
              <a:t>heures supplémentaires </a:t>
            </a:r>
            <a:r>
              <a:rPr lang="fr-FR" dirty="0"/>
              <a:t>sont un facteur très important </a:t>
            </a:r>
          </a:p>
          <a:p>
            <a:r>
              <a:rPr lang="fr-FR" dirty="0"/>
              <a:t>Des départs détectés sur tout le jeu de test. </a:t>
            </a:r>
          </a:p>
          <a:p>
            <a:r>
              <a:rPr lang="fr-FR" dirty="0"/>
              <a:t>En rouge + en bleu - </a:t>
            </a:r>
          </a:p>
        </p:txBody>
      </p:sp>
    </p:spTree>
    <p:extLst>
      <p:ext uri="{BB962C8B-B14F-4D97-AF65-F5344CB8AC3E}">
        <p14:creationId xmlns:p14="http://schemas.microsoft.com/office/powerpoint/2010/main" val="3514428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73E5-0141-E409-ADF1-BBA822A0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44D862-1EF4-4A17-335E-3E44401DC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F4ACC0F-BBE1-C1F1-4D9E-D35F5799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59" y="1452716"/>
            <a:ext cx="5624602" cy="42499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9413CF2-53D9-874B-5139-0D03190CBD0F}"/>
              </a:ext>
            </a:extLst>
          </p:cNvPr>
          <p:cNvSpPr txBox="1"/>
          <p:nvPr/>
        </p:nvSpPr>
        <p:spPr>
          <a:xfrm>
            <a:off x="272691" y="196715"/>
            <a:ext cx="49594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Localement :</a:t>
            </a:r>
          </a:p>
          <a:p>
            <a:r>
              <a:rPr lang="fr-FR" dirty="0"/>
              <a:t>Pour une personne qui </a:t>
            </a:r>
            <a:r>
              <a:rPr lang="fr-FR" b="1" dirty="0">
                <a:solidFill>
                  <a:srgbClr val="FF0000"/>
                </a:solidFill>
              </a:rPr>
              <a:t>part</a:t>
            </a:r>
            <a:r>
              <a:rPr lang="fr-FR" dirty="0"/>
              <a:t> : </a:t>
            </a:r>
          </a:p>
          <a:p>
            <a:r>
              <a:rPr lang="fr-FR" dirty="0"/>
              <a:t>Heures supplémentaires et ratio postes ancienneté</a:t>
            </a:r>
          </a:p>
          <a:p>
            <a:r>
              <a:rPr lang="fr-FR" dirty="0"/>
              <a:t>+ 0,64 et + 0,39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B1D52E5-3C21-B046-4272-FCA1587DC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392" y="1354394"/>
            <a:ext cx="5489749" cy="43483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04E50E0-E6DF-1B23-C66B-6E54EECE496C}"/>
              </a:ext>
            </a:extLst>
          </p:cNvPr>
          <p:cNvSpPr txBox="1"/>
          <p:nvPr/>
        </p:nvSpPr>
        <p:spPr>
          <a:xfrm>
            <a:off x="6095999" y="177050"/>
            <a:ext cx="4128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Localement :</a:t>
            </a:r>
          </a:p>
          <a:p>
            <a:r>
              <a:rPr lang="fr-FR" dirty="0"/>
              <a:t>Pour une personne qui </a:t>
            </a:r>
            <a:r>
              <a:rPr lang="fr-FR" b="1" dirty="0">
                <a:solidFill>
                  <a:srgbClr val="FF0000"/>
                </a:solidFill>
              </a:rPr>
              <a:t>reste </a:t>
            </a:r>
            <a:r>
              <a:rPr lang="fr-FR" dirty="0"/>
              <a:t>: satisfaction </a:t>
            </a:r>
          </a:p>
          <a:p>
            <a:r>
              <a:rPr lang="fr-FR" dirty="0"/>
              <a:t>employé environnement + 0,30 </a:t>
            </a:r>
          </a:p>
        </p:txBody>
      </p:sp>
    </p:spTree>
    <p:extLst>
      <p:ext uri="{BB962C8B-B14F-4D97-AF65-F5344CB8AC3E}">
        <p14:creationId xmlns:p14="http://schemas.microsoft.com/office/powerpoint/2010/main" val="425042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68B5-ADD8-C0A8-BCC2-8E6487428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2150768-1BD5-F718-2933-BC4E0A485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800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963076A-C0AA-4E6E-50A8-56823DDF8AE4}"/>
              </a:ext>
            </a:extLst>
          </p:cNvPr>
          <p:cNvSpPr txBox="1"/>
          <p:nvPr/>
        </p:nvSpPr>
        <p:spPr>
          <a:xfrm>
            <a:off x="4159045" y="373626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Conclusion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C9A6F9E-9B02-F159-098E-B2ACBEAC18EA}"/>
              </a:ext>
            </a:extLst>
          </p:cNvPr>
          <p:cNvSpPr txBox="1"/>
          <p:nvPr/>
        </p:nvSpPr>
        <p:spPr>
          <a:xfrm>
            <a:off x="757084" y="3303640"/>
            <a:ext cx="999857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Signal d’alerte pour éviter le </a:t>
            </a:r>
            <a:r>
              <a:rPr lang="fr-FR" dirty="0" err="1"/>
              <a:t>turn</a:t>
            </a:r>
            <a:r>
              <a:rPr lang="fr-FR" dirty="0"/>
              <a:t> over : tendance a faire des </a:t>
            </a:r>
            <a:r>
              <a:rPr lang="fr-FR" b="1" dirty="0">
                <a:solidFill>
                  <a:srgbClr val="FF0000"/>
                </a:solidFill>
              </a:rPr>
              <a:t>heures supplémentaires </a:t>
            </a:r>
            <a:r>
              <a:rPr lang="fr-FR" dirty="0"/>
              <a:t>(Burn Out, Fatigue)</a:t>
            </a:r>
          </a:p>
          <a:p>
            <a:r>
              <a:rPr lang="fr-FR" dirty="0"/>
              <a:t>Essayer de bien les rémunérer</a:t>
            </a:r>
          </a:p>
          <a:p>
            <a:endParaRPr lang="fr-FR" dirty="0"/>
          </a:p>
          <a:p>
            <a:r>
              <a:rPr lang="fr-FR" dirty="0"/>
              <a:t>Point de vigilance : Postes de </a:t>
            </a:r>
            <a:r>
              <a:rPr lang="fr-FR" b="1" dirty="0">
                <a:solidFill>
                  <a:srgbClr val="FF0000"/>
                </a:solidFill>
              </a:rPr>
              <a:t>commercial</a:t>
            </a:r>
            <a:r>
              <a:rPr lang="fr-FR" dirty="0"/>
              <a:t> et </a:t>
            </a:r>
            <a:r>
              <a:rPr lang="fr-FR" b="1" dirty="0">
                <a:solidFill>
                  <a:srgbClr val="FF0000"/>
                </a:solidFill>
              </a:rPr>
              <a:t>consultants</a:t>
            </a:r>
          </a:p>
          <a:p>
            <a:endParaRPr lang="fr-FR" dirty="0"/>
          </a:p>
          <a:p>
            <a:r>
              <a:rPr lang="fr-FR" dirty="0"/>
              <a:t>Distance Domicile travail : </a:t>
            </a:r>
            <a:r>
              <a:rPr lang="fr-FR" b="1" dirty="0">
                <a:solidFill>
                  <a:srgbClr val="FF0000"/>
                </a:solidFill>
              </a:rPr>
              <a:t>Fatigue supplémentaire</a:t>
            </a:r>
          </a:p>
          <a:p>
            <a:endParaRPr lang="fr-FR" dirty="0"/>
          </a:p>
          <a:p>
            <a:r>
              <a:rPr lang="fr-FR" dirty="0"/>
              <a:t>Fréquence de déplacement : Plus de </a:t>
            </a:r>
            <a:r>
              <a:rPr lang="fr-FR" b="1" dirty="0">
                <a:solidFill>
                  <a:srgbClr val="FF0000"/>
                </a:solidFill>
              </a:rPr>
              <a:t>télétravail </a:t>
            </a:r>
          </a:p>
          <a:p>
            <a:endParaRPr lang="fr-FR" b="1" dirty="0">
              <a:solidFill>
                <a:srgbClr val="FF0000"/>
              </a:solidFill>
            </a:endParaRPr>
          </a:p>
          <a:p>
            <a:r>
              <a:rPr lang="fr-FR" dirty="0"/>
              <a:t>Une note basse aux questionnaires de </a:t>
            </a:r>
            <a:r>
              <a:rPr lang="fr-FR" b="1" dirty="0">
                <a:solidFill>
                  <a:srgbClr val="FF0000"/>
                </a:solidFill>
              </a:rPr>
              <a:t>satisfaction environnement </a:t>
            </a:r>
            <a:r>
              <a:rPr lang="fr-FR" dirty="0"/>
              <a:t>et conditions de travail</a:t>
            </a:r>
          </a:p>
          <a:p>
            <a:endParaRPr lang="fr-FR" dirty="0"/>
          </a:p>
          <a:p>
            <a:r>
              <a:rPr lang="fr-FR" dirty="0"/>
              <a:t>Age : fidéliser les plus jeunes en leur accordant plus de </a:t>
            </a:r>
            <a:r>
              <a:rPr lang="fr-FR" b="1" dirty="0">
                <a:solidFill>
                  <a:srgbClr val="FF0000"/>
                </a:solidFill>
              </a:rPr>
              <a:t>promotions</a:t>
            </a:r>
            <a:r>
              <a:rPr lang="fr-FR" dirty="0"/>
              <a:t> car plus enclin a changer d’entreprise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26FCF4C-4894-7739-EFDC-3E63E62E2016}"/>
              </a:ext>
            </a:extLst>
          </p:cNvPr>
          <p:cNvSpPr txBox="1"/>
          <p:nvPr/>
        </p:nvSpPr>
        <p:spPr>
          <a:xfrm>
            <a:off x="739550" y="1578248"/>
            <a:ext cx="106062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Régression logistique fiable sur un jeu de test de 300 personnes : seulement </a:t>
            </a:r>
            <a:r>
              <a:rPr lang="fr-FR" sz="2000" b="1" dirty="0">
                <a:solidFill>
                  <a:srgbClr val="FF0000"/>
                </a:solidFill>
              </a:rPr>
              <a:t>5 départs non détectés </a:t>
            </a:r>
          </a:p>
          <a:p>
            <a:r>
              <a:rPr lang="fr-FR" sz="2000" dirty="0"/>
              <a:t>Implique un nombre important de fausses alertes et donc n’empêche pas un travail RH solide.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FB845DE-6433-3B4F-2E7D-A5B2E133BB98}"/>
              </a:ext>
            </a:extLst>
          </p:cNvPr>
          <p:cNvSpPr txBox="1"/>
          <p:nvPr/>
        </p:nvSpPr>
        <p:spPr>
          <a:xfrm>
            <a:off x="757084" y="2650642"/>
            <a:ext cx="563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Quels sont les causes et comment éviter ? : </a:t>
            </a:r>
          </a:p>
        </p:txBody>
      </p:sp>
    </p:spTree>
    <p:extLst>
      <p:ext uri="{BB962C8B-B14F-4D97-AF65-F5344CB8AC3E}">
        <p14:creationId xmlns:p14="http://schemas.microsoft.com/office/powerpoint/2010/main" val="22750834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</TotalTime>
  <Words>1439</Words>
  <Application>Microsoft Office PowerPoint</Application>
  <PresentationFormat>Grand écran</PresentationFormat>
  <Paragraphs>247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Google Sans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Forêt aléatoire et Arbres de décisions</vt:lpstr>
      <vt:lpstr>Présentation PowerPoint</vt:lpstr>
      <vt:lpstr>Présentation PowerPoint</vt:lpstr>
      <vt:lpstr>Présentation PowerPoint</vt:lpstr>
      <vt:lpstr>Présentation PowerPoint</vt:lpstr>
      <vt:lpstr>Les Hyper paramètres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Desurmont</dc:creator>
  <cp:lastModifiedBy>Jonathan Desurmont</cp:lastModifiedBy>
  <cp:revision>8</cp:revision>
  <dcterms:created xsi:type="dcterms:W3CDTF">2026-07-10T12:47:06Z</dcterms:created>
  <dcterms:modified xsi:type="dcterms:W3CDTF">2026-10-07T15:36:52Z</dcterms:modified>
</cp:coreProperties>
</file>